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8" r:id="rId6"/>
    <p:sldId id="271" r:id="rId7"/>
    <p:sldId id="280" r:id="rId8"/>
    <p:sldId id="282" r:id="rId9"/>
    <p:sldId id="283" r:id="rId10"/>
    <p:sldId id="270" r:id="rId11"/>
    <p:sldId id="269" r:id="rId12"/>
    <p:sldId id="284" r:id="rId13"/>
    <p:sldId id="276" r:id="rId14"/>
    <p:sldId id="267" r:id="rId15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7"/>
      <p:bold r:id="rId18"/>
      <p:italic r:id="rId19"/>
      <p:boldItalic r:id="rId20"/>
    </p:embeddedFont>
    <p:embeddedFont>
      <p:font typeface="Nunito Light" pitchFamily="2" charset="0"/>
      <p: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Black" panose="00000A00000000000000" pitchFamily="2" charset="0"/>
      <p:bold r:id="rId26"/>
      <p:boldItalic r:id="rId27"/>
    </p:embeddedFont>
    <p:embeddedFont>
      <p:font typeface="Poppins ExtraBold" panose="00000900000000000000" pitchFamily="2" charset="0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7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CE58A5-9BC6-4E53-A9DA-EE6B6539BB91}">
  <a:tblStyle styleId="{92CE58A5-9BC6-4E53-A9DA-EE6B6539BB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CC4629A-0290-4D52-9FD2-F348AC0D871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9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9708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645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9337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1359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1669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469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9466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306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787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avLst/>
                <a:gdLst/>
                <a:ahLst/>
                <a:cxnLst/>
                <a:rect l="l" t="t" r="r" b="b"/>
                <a:pathLst>
                  <a:path w="22325" h="4203" extrusionOk="0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rot="10800000" flipH="1">
              <a:off x="-1320285" y="-22921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50" h="5994" extrusionOk="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8" r:id="rId5"/>
    <p:sldLayoutId id="2147483667" r:id="rId6"/>
    <p:sldLayoutId id="2147483677" r:id="rId7"/>
    <p:sldLayoutId id="214748367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74171" y="1528071"/>
            <a:ext cx="8525691" cy="12325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DATA STRUCTURES &amp; ALGORITHMS</a:t>
            </a:r>
            <a:endParaRPr sz="3200"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graphicFrame>
        <p:nvGraphicFramePr>
          <p:cNvPr id="800" name="Google Shape;800;p37"/>
          <p:cNvGraphicFramePr/>
          <p:nvPr>
            <p:extLst>
              <p:ext uri="{D42A27DB-BD31-4B8C-83A1-F6EECF244321}">
                <p14:modId xmlns:p14="http://schemas.microsoft.com/office/powerpoint/2010/main" val="2651237187"/>
              </p:ext>
            </p:extLst>
          </p:nvPr>
        </p:nvGraphicFramePr>
        <p:xfrm>
          <a:off x="1541915" y="1640404"/>
          <a:ext cx="6060169" cy="1046225"/>
        </p:xfrm>
        <a:graphic>
          <a:graphicData uri="http://schemas.openxmlformats.org/drawingml/2006/table">
            <a:tbl>
              <a:tblPr>
                <a:noFill/>
                <a:tableStyleId>{92CE58A5-9BC6-4E53-A9DA-EE6B6539BB91}</a:tableStyleId>
              </a:tblPr>
              <a:tblGrid>
                <a:gridCol w="6060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What is Big O ?</a:t>
                      </a:r>
                      <a:endParaRPr lang="en-US" sz="10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Rules</a:t>
                      </a:r>
                      <a:r>
                        <a:rPr lang="en-US" sz="1000" u="sng" baseline="0" dirty="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 of Big O.</a:t>
                      </a:r>
                      <a:endParaRPr lang="en-US" sz="10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Stack.</a:t>
                      </a:r>
                      <a:endParaRPr lang="en-US" sz="10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1410790" y="1564950"/>
            <a:ext cx="7646124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dirty="0"/>
              <a:t>What is Big O ?</a:t>
            </a: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335972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What is Big O ?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36320" y="1667625"/>
            <a:ext cx="7193280" cy="24602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It is the formal way to express the upper bound of an algorithm’s running time.</a:t>
            </a:r>
          </a:p>
          <a:p>
            <a:pPr marL="0" lvl="0" indent="0" algn="just">
              <a:lnSpc>
                <a:spcPct val="150000"/>
              </a:lnSpc>
            </a:pPr>
            <a:endParaRPr lang="en-US" b="1" dirty="0"/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Upper bound means for give input this notation determines longest amount of time an algorithm can take to complete.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4" y="1564950"/>
            <a:ext cx="6971889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Rules of Big O.</a:t>
            </a: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659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Rules of Big O.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97280" y="1197362"/>
            <a:ext cx="7193280" cy="3304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It is a single processor.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It performs sequential execution of statements.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Assignment operation takes one unit of time.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Return statement takes one unit of time.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Arithmetic operation takes one unit of time.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Logical operators takes 1 unit of time.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Other small/single operations take 1 unit of time.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Drop lower order terms.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Drop constant multipliers.</a:t>
            </a:r>
          </a:p>
          <a:p>
            <a:pPr marL="0" lvl="0" indent="0"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EX:   </a:t>
            </a:r>
            <a:r>
              <a:rPr lang="en-US" b="1" dirty="0">
                <a:solidFill>
                  <a:schemeClr val="tx1"/>
                </a:solidFill>
              </a:rPr>
              <a:t>T = 2n</a:t>
            </a:r>
            <a:r>
              <a:rPr lang="en-US" b="1" baseline="30000" dirty="0">
                <a:solidFill>
                  <a:schemeClr val="tx1"/>
                </a:solidFill>
              </a:rPr>
              <a:t>2 </a:t>
            </a:r>
            <a:r>
              <a:rPr lang="en-US" b="1" dirty="0">
                <a:solidFill>
                  <a:schemeClr val="tx1"/>
                </a:solidFill>
              </a:rPr>
              <a:t>+ 3n + 1 = O(n</a:t>
            </a:r>
            <a:r>
              <a:rPr lang="en-US" b="1" baseline="30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)</a:t>
            </a:r>
            <a:endParaRPr lang="en-US" b="1" baseline="30000" dirty="0">
              <a:solidFill>
                <a:schemeClr val="tx1"/>
              </a:solidFill>
            </a:endParaRP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Find Big O for the following Examples.</a:t>
            </a:r>
          </a:p>
        </p:txBody>
      </p:sp>
    </p:spTree>
    <p:extLst>
      <p:ext uri="{BB962C8B-B14F-4D97-AF65-F5344CB8AC3E}">
        <p14:creationId xmlns:p14="http://schemas.microsoft.com/office/powerpoint/2010/main" val="4294703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EX_1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0" y="1197362"/>
            <a:ext cx="8290560" cy="3304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.					</a:t>
            </a:r>
          </a:p>
        </p:txBody>
      </p:sp>
      <p:graphicFrame>
        <p:nvGraphicFramePr>
          <p:cNvPr id="3" name="جدول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922515"/>
              </p:ext>
            </p:extLst>
          </p:nvPr>
        </p:nvGraphicFramePr>
        <p:xfrm>
          <a:off x="5233851" y="1343093"/>
          <a:ext cx="3056709" cy="812914"/>
        </p:xfrm>
        <a:graphic>
          <a:graphicData uri="http://schemas.openxmlformats.org/drawingml/2006/table">
            <a:tbl>
              <a:tblPr rtl="1" firstRow="1" bandRow="1">
                <a:tableStyleId>{92CE58A5-9BC6-4E53-A9DA-EE6B6539BB91}</a:tableStyleId>
              </a:tblPr>
              <a:tblGrid>
                <a:gridCol w="1018903">
                  <a:extLst>
                    <a:ext uri="{9D8B030D-6E8A-4147-A177-3AD203B41FA5}">
                      <a16:colId xmlns:a16="http://schemas.microsoft.com/office/drawing/2014/main" val="1286908305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132808572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282149673"/>
                    </a:ext>
                  </a:extLst>
                </a:gridCol>
              </a:tblGrid>
              <a:tr h="406457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Unit time</a:t>
                      </a:r>
                      <a:endParaRPr lang="ar-Y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803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ar-Y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Line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 no.</a:t>
                      </a:r>
                      <a:endParaRPr lang="ar-Y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24276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908283"/>
                  </a:ext>
                </a:extLst>
              </a:tr>
            </a:tbl>
          </a:graphicData>
        </a:graphic>
      </p:graphicFrame>
      <p:pic>
        <p:nvPicPr>
          <p:cNvPr id="4" name="صورة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3093"/>
            <a:ext cx="4448796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7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EX_2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0" y="1197362"/>
            <a:ext cx="8290560" cy="3304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.					</a:t>
            </a: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3093"/>
            <a:ext cx="4267796" cy="2438740"/>
          </a:xfrm>
          <a:prstGeom prst="rect">
            <a:avLst/>
          </a:prstGeom>
        </p:spPr>
      </p:pic>
      <p:graphicFrame>
        <p:nvGraphicFramePr>
          <p:cNvPr id="3" name="جدول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127289"/>
              </p:ext>
            </p:extLst>
          </p:nvPr>
        </p:nvGraphicFramePr>
        <p:xfrm>
          <a:off x="5233851" y="1343093"/>
          <a:ext cx="3056709" cy="2438742"/>
        </p:xfrm>
        <a:graphic>
          <a:graphicData uri="http://schemas.openxmlformats.org/drawingml/2006/table">
            <a:tbl>
              <a:tblPr rtl="1" firstRow="1" bandRow="1">
                <a:tableStyleId>{92CE58A5-9BC6-4E53-A9DA-EE6B6539BB91}</a:tableStyleId>
              </a:tblPr>
              <a:tblGrid>
                <a:gridCol w="1018903">
                  <a:extLst>
                    <a:ext uri="{9D8B030D-6E8A-4147-A177-3AD203B41FA5}">
                      <a16:colId xmlns:a16="http://schemas.microsoft.com/office/drawing/2014/main" val="1286908305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132808572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282149673"/>
                    </a:ext>
                  </a:extLst>
                </a:gridCol>
              </a:tblGrid>
              <a:tr h="406457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Unit time</a:t>
                      </a:r>
                      <a:endParaRPr lang="ar-Y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803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ar-Y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Line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 no.</a:t>
                      </a:r>
                      <a:endParaRPr lang="ar-Y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24276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908283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013422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795691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857427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603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402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EX_3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0" y="1197362"/>
            <a:ext cx="8290560" cy="33049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.					</a:t>
            </a:r>
          </a:p>
        </p:txBody>
      </p:sp>
      <p:graphicFrame>
        <p:nvGraphicFramePr>
          <p:cNvPr id="3" name="جدول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667439"/>
              </p:ext>
            </p:extLst>
          </p:nvPr>
        </p:nvGraphicFramePr>
        <p:xfrm>
          <a:off x="5991496" y="1197362"/>
          <a:ext cx="3056709" cy="2438742"/>
        </p:xfrm>
        <a:graphic>
          <a:graphicData uri="http://schemas.openxmlformats.org/drawingml/2006/table">
            <a:tbl>
              <a:tblPr rtl="1" firstRow="1" bandRow="1">
                <a:tableStyleId>{92CE58A5-9BC6-4E53-A9DA-EE6B6539BB91}</a:tableStyleId>
              </a:tblPr>
              <a:tblGrid>
                <a:gridCol w="1018903">
                  <a:extLst>
                    <a:ext uri="{9D8B030D-6E8A-4147-A177-3AD203B41FA5}">
                      <a16:colId xmlns:a16="http://schemas.microsoft.com/office/drawing/2014/main" val="1286908305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132808572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282149673"/>
                    </a:ext>
                  </a:extLst>
                </a:gridCol>
              </a:tblGrid>
              <a:tr h="406457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Unit time</a:t>
                      </a:r>
                      <a:endParaRPr lang="ar-Y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803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ar-Y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Line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 no.</a:t>
                      </a:r>
                      <a:endParaRPr lang="ar-YE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24276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908283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013422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795691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857427"/>
                  </a:ext>
                </a:extLst>
              </a:tr>
              <a:tr h="406457"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Y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603278"/>
                  </a:ext>
                </a:extLst>
              </a:tr>
            </a:tbl>
          </a:graphicData>
        </a:graphic>
      </p:graphicFrame>
      <p:pic>
        <p:nvPicPr>
          <p:cNvPr id="4" name="صورة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7362"/>
            <a:ext cx="5738949" cy="243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68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4" y="1564950"/>
            <a:ext cx="6971889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Stack.</a:t>
            </a: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6931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Stack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36320" y="1667626"/>
            <a:ext cx="7193280" cy="11365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A stack is a linear data structure that follows the Last-In-First-Out (LIFO) principle. It behaves like a stack of plates, where the last plate added is the first one to be removed.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just">
              <a:lnSpc>
                <a:spcPct val="150000"/>
              </a:lnSpc>
            </a:pPr>
            <a:endParaRPr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860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Stack</a:t>
            </a:r>
          </a:p>
        </p:txBody>
      </p:sp>
      <p:pic>
        <p:nvPicPr>
          <p:cNvPr id="1026" name="Picture 2" descr="Stack Data Structure and Implementation in Python, Java and C/C++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591" y="1017725"/>
            <a:ext cx="5704818" cy="337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276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Stack Operations</a:t>
            </a:r>
          </a:p>
        </p:txBody>
      </p:sp>
      <p:sp>
        <p:nvSpPr>
          <p:cNvPr id="2" name="مستطيل 1"/>
          <p:cNvSpPr/>
          <p:nvPr/>
        </p:nvSpPr>
        <p:spPr>
          <a:xfrm>
            <a:off x="7003701" y="1346479"/>
            <a:ext cx="512466" cy="20096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YE"/>
          </a:p>
        </p:txBody>
      </p:sp>
      <p:sp>
        <p:nvSpPr>
          <p:cNvPr id="7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47840" y="943609"/>
            <a:ext cx="7193280" cy="4125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rgbClr val="FF0000"/>
                </a:solidFill>
              </a:rPr>
              <a:t>Key Operations on Stack Data Structures</a:t>
            </a:r>
          </a:p>
          <a:p>
            <a:pPr marL="628650" lvl="1" indent="-17145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Push: Adds an element to the top of the stack.</a:t>
            </a:r>
          </a:p>
          <a:p>
            <a:pPr marL="628650" lvl="1" indent="-17145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Pop: Removes the top element from the stack.</a:t>
            </a:r>
          </a:p>
          <a:p>
            <a:pPr marL="628650" lvl="1" indent="-17145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Peek: Returns the top element without removing it.</a:t>
            </a:r>
          </a:p>
          <a:p>
            <a:pPr marL="628650" lvl="1" indent="-17145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IsEmpty: Checks if the stack is empty.</a:t>
            </a:r>
          </a:p>
          <a:p>
            <a:pPr marL="628650" lvl="1" indent="-171450" algn="just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</a:rPr>
              <a:t>IsFull</a:t>
            </a:r>
            <a:r>
              <a:rPr lang="en-US" b="1" dirty="0">
                <a:solidFill>
                  <a:schemeClr val="tx1"/>
                </a:solidFill>
              </a:rPr>
              <a:t>: Checks if the stack is full (in case of fixed-size arrays).</a:t>
            </a:r>
            <a:endParaRPr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516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7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0630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THANKS</a:t>
            </a:r>
            <a:endParaRPr dirty="0"/>
          </a:p>
        </p:txBody>
      </p:sp>
      <p:sp>
        <p:nvSpPr>
          <p:cNvPr id="3" name="Google Shape;758;p36"/>
          <p:cNvSpPr txBox="1">
            <a:spLocks/>
          </p:cNvSpPr>
          <p:nvPr/>
        </p:nvSpPr>
        <p:spPr>
          <a:xfrm>
            <a:off x="1394300" y="422537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/>
              <a:t>Eng. Khaled Al-arashi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318</Words>
  <Application>Microsoft Office PowerPoint</Application>
  <PresentationFormat>عرض على الشاشة (16:9)</PresentationFormat>
  <Paragraphs>54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22" baseType="lpstr">
      <vt:lpstr>Poppins</vt:lpstr>
      <vt:lpstr>Nunito Light</vt:lpstr>
      <vt:lpstr>Wingdings</vt:lpstr>
      <vt:lpstr>Barlow</vt:lpstr>
      <vt:lpstr>Poppins ExtraBold</vt:lpstr>
      <vt:lpstr>Arial</vt:lpstr>
      <vt:lpstr>Poppins Black</vt:lpstr>
      <vt:lpstr>Data Analytics Strategy Toolkit by Slidesgo</vt:lpstr>
      <vt:lpstr>DATA STRUCTURES &amp; ALGORITHMS</vt:lpstr>
      <vt:lpstr>CONTENTS</vt:lpstr>
      <vt:lpstr>What is Big O ?</vt:lpstr>
      <vt:lpstr>What is Big O ?</vt:lpstr>
      <vt:lpstr>Rules of Big O.</vt:lpstr>
      <vt:lpstr>Rules of Big O.</vt:lpstr>
      <vt:lpstr>EX_1</vt:lpstr>
      <vt:lpstr>EX_2</vt:lpstr>
      <vt:lpstr>EX_3</vt:lpstr>
      <vt:lpstr>Stack.</vt:lpstr>
      <vt:lpstr>Stack</vt:lpstr>
      <vt:lpstr>Stack</vt:lpstr>
      <vt:lpstr>Stack Operations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&amp; ALGORITHMS</dc:title>
  <cp:lastModifiedBy>Suad Aljuaid</cp:lastModifiedBy>
  <cp:revision>37</cp:revision>
  <dcterms:modified xsi:type="dcterms:W3CDTF">2025-11-03T18:03:50Z</dcterms:modified>
</cp:coreProperties>
</file>